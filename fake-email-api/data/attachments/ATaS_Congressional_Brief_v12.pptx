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24ec08d2a94fab" /><Relationship Type="http://schemas.openxmlformats.org/officeDocument/2006/relationships/extended-properties" Target="/docProps/app.xml" Id="R8ec595bb63064eaf" /><Relationship Type="http://schemas.openxmlformats.org/officeDocument/2006/relationships/officeDocument" Target="/ppt/presentation.xml" Id="R4b5dfdf497a9486d" /></Relationships>
</file>

<file path=ppt/presentation.xml><?xml version="1.0" encoding="utf-8"?>
<p:presentation xmlns:p="http://schemas.openxmlformats.org/presentationml/2006/main">
  <p:sldMasterIdLst>
    <p:sldMasterId xmlns:r="http://schemas.openxmlformats.org/officeDocument/2006/relationships" id="2147483648" r:id="R4d632977dd96411f"/>
  </p:sldMasterIdLst>
  <p:notesMasterIdLst>
    <p:notesMasterId xmlns:r="http://schemas.openxmlformats.org/officeDocument/2006/relationships" r:id="Rc00206ffa7f54065"/>
  </p:notesMasterIdLst>
  <p:sldIdLst>
    <p:sldId xmlns:r="http://schemas.openxmlformats.org/officeDocument/2006/relationships" id="256" r:id="R8df84a080c9c4033"/>
    <p:sldId xmlns:r="http://schemas.openxmlformats.org/officeDocument/2006/relationships" id="257" r:id="Re8d24310a0904c52"/>
    <p:sldId xmlns:r="http://schemas.openxmlformats.org/officeDocument/2006/relationships" id="258" r:id="R9835951b23f74746"/>
    <p:sldId xmlns:r="http://schemas.openxmlformats.org/officeDocument/2006/relationships" id="259" r:id="Rda19d6f66b8040d5"/>
    <p:sldId xmlns:r="http://schemas.openxmlformats.org/officeDocument/2006/relationships" id="260" r:id="R74e6336295164cbc"/>
    <p:sldId xmlns:r="http://schemas.openxmlformats.org/officeDocument/2006/relationships" id="261" r:id="R06a1cf9a3f53461a"/>
    <p:sldId xmlns:r="http://schemas.openxmlformats.org/officeDocument/2006/relationships" id="262" r:id="R929e1deae2034bac"/>
    <p:sldId xmlns:r="http://schemas.openxmlformats.org/officeDocument/2006/relationships" id="263" r:id="R21845a1a81b44bd6"/>
    <p:sldId xmlns:r="http://schemas.openxmlformats.org/officeDocument/2006/relationships" id="264" r:id="R7ff5f2b12d294285"/>
    <p:sldId xmlns:r="http://schemas.openxmlformats.org/officeDocument/2006/relationships" id="265" r:id="Rd4b22b7f20154e86"/>
    <p:sldId xmlns:r="http://schemas.openxmlformats.org/officeDocument/2006/relationships" id="266" r:id="Reddae41d98794a68"/>
    <p:sldId xmlns:r="http://schemas.openxmlformats.org/officeDocument/2006/relationships" id="267" r:id="Rc983b56983fd4703"/>
    <p:sldId xmlns:r="http://schemas.openxmlformats.org/officeDocument/2006/relationships" id="268" r:id="R500d6745806f4502"/>
    <p:sldId xmlns:r="http://schemas.openxmlformats.org/officeDocument/2006/relationships" id="269" r:id="R235945199510428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1d7950f7be46ff" /><Relationship Type="http://schemas.openxmlformats.org/officeDocument/2006/relationships/slideMaster" Target="/ppt/slideMasters/slideMaster1.xml" Id="R4d632977dd96411f" /><Relationship Type="http://schemas.openxmlformats.org/officeDocument/2006/relationships/notesMaster" Target="/ppt/notesMasters/notesMaster1.xml" Id="Rc00206ffa7f54065" /><Relationship Type="http://schemas.openxmlformats.org/officeDocument/2006/relationships/presProps" Target="/ppt/presProps.xml" Id="Rfa672fa320794272" /><Relationship Type="http://schemas.openxmlformats.org/officeDocument/2006/relationships/tableStyles" Target="/ppt/tableStyles.xml" Id="Rae2f1639d6f14371" /><Relationship Type="http://schemas.openxmlformats.org/officeDocument/2006/relationships/slide" Target="/ppt/slides/slide1.xml" Id="R8df84a080c9c4033" /><Relationship Type="http://schemas.openxmlformats.org/officeDocument/2006/relationships/slide" Target="/ppt/slides/slide2.xml" Id="Re8d24310a0904c52" /><Relationship Type="http://schemas.openxmlformats.org/officeDocument/2006/relationships/slide" Target="/ppt/slides/slide3.xml" Id="R9835951b23f74746" /><Relationship Type="http://schemas.openxmlformats.org/officeDocument/2006/relationships/slide" Target="/ppt/slides/slide4.xml" Id="Rda19d6f66b8040d5" /><Relationship Type="http://schemas.openxmlformats.org/officeDocument/2006/relationships/slide" Target="/ppt/slides/slide5.xml" Id="R74e6336295164cbc" /><Relationship Type="http://schemas.openxmlformats.org/officeDocument/2006/relationships/slide" Target="/ppt/slides/slide6.xml" Id="R06a1cf9a3f53461a" /><Relationship Type="http://schemas.openxmlformats.org/officeDocument/2006/relationships/slide" Target="/ppt/slides/slide7.xml" Id="R929e1deae2034bac" /><Relationship Type="http://schemas.openxmlformats.org/officeDocument/2006/relationships/slide" Target="/ppt/slides/slide8.xml" Id="R21845a1a81b44bd6" /><Relationship Type="http://schemas.openxmlformats.org/officeDocument/2006/relationships/slide" Target="/ppt/slides/slide9.xml" Id="R7ff5f2b12d294285" /><Relationship Type="http://schemas.openxmlformats.org/officeDocument/2006/relationships/slide" Target="/ppt/slides/slide10.xml" Id="Rd4b22b7f20154e86" /><Relationship Type="http://schemas.openxmlformats.org/officeDocument/2006/relationships/slide" Target="/ppt/slides/slide11.xml" Id="Reddae41d98794a68" /><Relationship Type="http://schemas.openxmlformats.org/officeDocument/2006/relationships/slide" Target="/ppt/slides/slide12.xml" Id="Rc983b56983fd4703" /><Relationship Type="http://schemas.openxmlformats.org/officeDocument/2006/relationships/slide" Target="/ppt/slides/slide13.xml" Id="R500d6745806f4502" /><Relationship Type="http://schemas.openxmlformats.org/officeDocument/2006/relationships/slide" Target="/ppt/slides/slide14.xml" Id="R235945199510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87d8c4586842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14fc47f52f406e" /><Relationship Type="http://schemas.openxmlformats.org/officeDocument/2006/relationships/notesMaster" Target="/ppt/notesMasters/notesMaster1.xml" Id="R195af0a19e0d44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be1dc719124af5" /><Relationship Type="http://schemas.openxmlformats.org/officeDocument/2006/relationships/notesMaster" Target="/ppt/notesMasters/notesMaster1.xml" Id="Rd97a91f52d4d4a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ed609ef7634b0a" /><Relationship Type="http://schemas.openxmlformats.org/officeDocument/2006/relationships/notesMaster" Target="/ppt/notesMasters/notesMaster1.xml" Id="R3198812f199945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483208ab8347aa" /><Relationship Type="http://schemas.openxmlformats.org/officeDocument/2006/relationships/notesMaster" Target="/ppt/notesMasters/notesMaster1.xml" Id="R1cdd100a1cb84a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5d0c698c1f4c72" /><Relationship Type="http://schemas.openxmlformats.org/officeDocument/2006/relationships/notesMaster" Target="/ppt/notesMasters/notesMaster1.xml" Id="R24bf4c08c98f4d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c592e9238f4801" /><Relationship Type="http://schemas.openxmlformats.org/officeDocument/2006/relationships/notesMaster" Target="/ppt/notesMasters/notesMaster1.xml" Id="R1ad11f70b0bc40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0195a27c554eab" /><Relationship Type="http://schemas.openxmlformats.org/officeDocument/2006/relationships/notesMaster" Target="/ppt/notesMasters/notesMaster1.xml" Id="Ra7ed054adaea44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e16e8ea2c0431e" /><Relationship Type="http://schemas.openxmlformats.org/officeDocument/2006/relationships/notesMaster" Target="/ppt/notesMasters/notesMaster1.xml" Id="Re29662a979604a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0837580a1f4185" /><Relationship Type="http://schemas.openxmlformats.org/officeDocument/2006/relationships/notesMaster" Target="/ppt/notesMasters/notesMaster1.xml" Id="Rd0e6ddb558a64f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a3883b4ac7450e" /><Relationship Type="http://schemas.openxmlformats.org/officeDocument/2006/relationships/notesMaster" Target="/ppt/notesMasters/notesMaster1.xml" Id="R0e1a702cf6dc4d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df33086392484e" /><Relationship Type="http://schemas.openxmlformats.org/officeDocument/2006/relationships/notesMaster" Target="/ppt/notesMasters/notesMaster1.xml" Id="Ra92a0c476d1b41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5e994fd3ab4bac" /><Relationship Type="http://schemas.openxmlformats.org/officeDocument/2006/relationships/notesMaster" Target="/ppt/notesMasters/notesMaster1.xml" Id="Rfabef933054945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d6eb8a53c44f4d" /><Relationship Type="http://schemas.openxmlformats.org/officeDocument/2006/relationships/notesMaster" Target="/ppt/notesMasters/notesMaster1.xml" Id="R34ceb65681b040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e3b22a40f04ea8" /><Relationship Type="http://schemas.openxmlformats.org/officeDocument/2006/relationships/notesMaster" Target="/ppt/notesMasters/notesMaster1.xml" Id="R2fcdadeb17ac45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7d762f2e1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2798e1730a4148" /><Relationship Type="http://schemas.openxmlformats.org/officeDocument/2006/relationships/slideLayout" Target="/ppt/slideLayouts/slideLayout1.xml" Id="Rbc4cdc79ca904c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4cdc79ca904c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30c0c864044faf" /><Relationship Type="http://schemas.openxmlformats.org/officeDocument/2006/relationships/notesSlide" Target="/ppt/notesSlides/notesSlide1.xml" Id="R56424e04ee6845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fa051fcac94a50" /><Relationship Type="http://schemas.openxmlformats.org/officeDocument/2006/relationships/notesSlide" Target="/ppt/notesSlides/notesSlide2.xml" Id="Ra4096dd2993f40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327994bba34c0a" /><Relationship Type="http://schemas.openxmlformats.org/officeDocument/2006/relationships/notesSlide" Target="/ppt/notesSlides/notesSlide3.xml" Id="Rf2e79acbea674f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c08ec07fd8462a" /><Relationship Type="http://schemas.openxmlformats.org/officeDocument/2006/relationships/notesSlide" Target="/ppt/notesSlides/notesSlide4.xml" Id="R05e91211b6fa4d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5c8d0b40fc46ed" /><Relationship Type="http://schemas.openxmlformats.org/officeDocument/2006/relationships/notesSlide" Target="/ppt/notesSlides/notesSlide5.xml" Id="R53ceda602ddf4a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49ed13563148ac" /><Relationship Type="http://schemas.openxmlformats.org/officeDocument/2006/relationships/notesSlide" Target="/ppt/notesSlides/notesSlide6.xml" Id="R1cd7af92505f4b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005c3074d347ec" /><Relationship Type="http://schemas.openxmlformats.org/officeDocument/2006/relationships/notesSlide" Target="/ppt/notesSlides/notesSlide7.xml" Id="Rf467395410c94b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fd0077df09437b" /><Relationship Type="http://schemas.openxmlformats.org/officeDocument/2006/relationships/notesSlide" Target="/ppt/notesSlides/notesSlide8.xml" Id="Rb575945d9f1141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0b976bb1d748e3" /><Relationship Type="http://schemas.openxmlformats.org/officeDocument/2006/relationships/notesSlide" Target="/ppt/notesSlides/notesSlide9.xml" Id="R170d888f5cc243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6aa828faef4285" /><Relationship Type="http://schemas.openxmlformats.org/officeDocument/2006/relationships/notesSlide" Target="/ppt/notesSlides/notesSlide10.xml" Id="Rd1da5af1c12a45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4e52d4296f4280" /><Relationship Type="http://schemas.openxmlformats.org/officeDocument/2006/relationships/notesSlide" Target="/ppt/notesSlides/notesSlide11.xml" Id="Re7f71f3b15f94e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cc9877af1746c9" /><Relationship Type="http://schemas.openxmlformats.org/officeDocument/2006/relationships/notesSlide" Target="/ppt/notesSlides/notesSlide12.xml" Id="R7508788166914e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644e5a298149cf" /><Relationship Type="http://schemas.openxmlformats.org/officeDocument/2006/relationships/notesSlide" Target="/ppt/notesSlides/notesSlide13.xml" Id="Red9fbaad571146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829f091c5c4e24" /><Relationship Type="http://schemas.openxmlformats.org/officeDocument/2006/relationships/notesSlide" Target="/ppt/notesSlides/notesSlide14.xml" Id="Rbce95aaf7cba4ddb"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
            <a:extLst xmlns:a="http://schemas.openxmlformats.org/drawingml/2006/main">
              <a:ext uri="{FF2B5EF4-FFF2-40B4-BE49-F238E27FC236}">
                <a16:creationId xmlns:a16="http://schemas.microsoft.com/office/drawing/2014/main" id="{DE2F283F-0FCE-404A-9746-358F05748974}"/>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
            <a:extLst xmlns:a="http://schemas.openxmlformats.org/drawingml/2006/main">
              <a:ext uri="{FF2B5EF4-FFF2-40B4-BE49-F238E27FC236}">
                <a16:creationId xmlns:a16="http://schemas.microsoft.com/office/drawing/2014/main" id="{AA0AC0AF-3F0C-40A5-9D7C-16A52FBA416D}"/>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Project ATaS briefing frame</a:t>
            </a:r>
          </a:p>
        </p:txBody>
      </p:sp>
      <p:sp>
        <p:nvSpPr>
          <p:cNvPr id="3" name="body-1">
            <a:extLst xmlns:a="http://schemas.openxmlformats.org/drawingml/2006/main">
              <a:ext uri="{FF2B5EF4-FFF2-40B4-BE49-F238E27FC236}">
                <a16:creationId xmlns:a16="http://schemas.microsoft.com/office/drawing/2014/main" id="{A3B62DEB-D2BA-458C-9D83-BEAC5B33A190}"/>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Purpose: prepare a concise discussion of the ATaS program status, validation posture, civilian protection controls, and open decisions before the Monday congressional engagement.</a:t>
            </a:r>
          </a:p>
        </p:txBody>
      </p:sp>
      <p:sp>
        <p:nvSpPr>
          <p:cNvPr id="4" name="footer-1">
            <a:extLst xmlns:a="http://schemas.openxmlformats.org/drawingml/2006/main">
              <a:ext uri="{FF2B5EF4-FFF2-40B4-BE49-F238E27FC236}">
                <a16:creationId xmlns:a16="http://schemas.microsoft.com/office/drawing/2014/main" id="{91405DBF-ADED-4F01-962D-3861673FA8D5}"/>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a:t>
            </a:r>
          </a:p>
        </p:txBody>
      </p:sp>
    </p:spTree>
    <p:extLst>
      <p:ext uri="{BB962C8B-B14F-4D97-AF65-F5344CB8AC3E}">
        <p14:creationId xmlns:p14="http://schemas.microsoft.com/office/powerpoint/2010/main" val="18677630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2">
            <a:extLst xmlns:a="http://schemas.openxmlformats.org/drawingml/2006/main">
              <a:ext uri="{FF2B5EF4-FFF2-40B4-BE49-F238E27FC236}">
                <a16:creationId xmlns:a16="http://schemas.microsoft.com/office/drawing/2014/main" id="{081E0720-66F7-44CC-9F9B-5AE581ACD571}"/>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2">
            <a:extLst xmlns:a="http://schemas.openxmlformats.org/drawingml/2006/main">
              <a:ext uri="{FF2B5EF4-FFF2-40B4-BE49-F238E27FC236}">
                <a16:creationId xmlns:a16="http://schemas.microsoft.com/office/drawing/2014/main" id="{D6CD860D-A35C-445A-99DD-5CAB3216C6DE}"/>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ATaS is intended to support human review</a:t>
            </a:r>
          </a:p>
        </p:txBody>
      </p:sp>
      <p:sp>
        <p:nvSpPr>
          <p:cNvPr id="3" name="body-2">
            <a:extLst xmlns:a="http://schemas.openxmlformats.org/drawingml/2006/main">
              <a:ext uri="{FF2B5EF4-FFF2-40B4-BE49-F238E27FC236}">
                <a16:creationId xmlns:a16="http://schemas.microsoft.com/office/drawing/2014/main" id="{8901E47D-E614-48AD-8D0E-999F9FD01F04}"/>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system is positioned as a decision-support capability. Human authorization, auditability, and commander accountability remain central to the briefing narrative.</a:t>
            </a:r>
          </a:p>
        </p:txBody>
      </p:sp>
      <p:sp>
        <p:nvSpPr>
          <p:cNvPr id="4" name="footer-2">
            <a:extLst xmlns:a="http://schemas.openxmlformats.org/drawingml/2006/main">
              <a:ext uri="{FF2B5EF4-FFF2-40B4-BE49-F238E27FC236}">
                <a16:creationId xmlns:a16="http://schemas.microsoft.com/office/drawing/2014/main" id="{7E8794CD-3632-4396-930E-5E4B1BD1E13A}"/>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2</a:t>
            </a:r>
          </a:p>
        </p:txBody>
      </p:sp>
    </p:spTree>
    <p:extLst>
      <p:ext uri="{BB962C8B-B14F-4D97-AF65-F5344CB8AC3E}">
        <p14:creationId xmlns:p14="http://schemas.microsoft.com/office/powerpoint/2010/main" val="1801083287"/>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3">
            <a:extLst xmlns:a="http://schemas.openxmlformats.org/drawingml/2006/main">
              <a:ext uri="{FF2B5EF4-FFF2-40B4-BE49-F238E27FC236}">
                <a16:creationId xmlns:a16="http://schemas.microsoft.com/office/drawing/2014/main" id="{1069FFA4-17DC-4046-BDA5-17335BCAA75C}"/>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3">
            <a:extLst xmlns:a="http://schemas.openxmlformats.org/drawingml/2006/main">
              <a:ext uri="{FF2B5EF4-FFF2-40B4-BE49-F238E27FC236}">
                <a16:creationId xmlns:a16="http://schemas.microsoft.com/office/drawing/2014/main" id="{DCD94276-BFD5-42CD-949F-2B1688C89AC2}"/>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The candidate model improves baseline performance</a:t>
            </a:r>
          </a:p>
        </p:txBody>
      </p:sp>
      <p:sp>
        <p:nvSpPr>
          <p:cNvPr id="3" name="body-3">
            <a:extLst xmlns:a="http://schemas.openxmlformats.org/drawingml/2006/main">
              <a:ext uri="{FF2B5EF4-FFF2-40B4-BE49-F238E27FC236}">
                <a16:creationId xmlns:a16="http://schemas.microsoft.com/office/drawing/2014/main" id="{6F5E27B2-BEB5-40D1-B60E-90A95D85D9D7}"/>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Current brief language says the candidate model improves identification performance over the deployed baseline. Final validation language is still being refined.</a:t>
            </a:r>
          </a:p>
        </p:txBody>
      </p:sp>
      <p:sp>
        <p:nvSpPr>
          <p:cNvPr id="4" name="footer-3">
            <a:extLst xmlns:a="http://schemas.openxmlformats.org/drawingml/2006/main">
              <a:ext uri="{FF2B5EF4-FFF2-40B4-BE49-F238E27FC236}">
                <a16:creationId xmlns:a16="http://schemas.microsoft.com/office/drawing/2014/main" id="{1D64B1E7-940C-4777-9739-17B1D95E5E5D}"/>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3</a:t>
            </a:r>
          </a:p>
        </p:txBody>
      </p:sp>
    </p:spTree>
    <p:extLst>
      <p:ext uri="{BB962C8B-B14F-4D97-AF65-F5344CB8AC3E}">
        <p14:creationId xmlns:p14="http://schemas.microsoft.com/office/powerpoint/2010/main" val="121797972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4">
            <a:extLst xmlns:a="http://schemas.openxmlformats.org/drawingml/2006/main">
              <a:ext uri="{FF2B5EF4-FFF2-40B4-BE49-F238E27FC236}">
                <a16:creationId xmlns:a16="http://schemas.microsoft.com/office/drawing/2014/main" id="{009A71BE-EA6B-4EC1-B1CE-B3BBE4844BBA}"/>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4">
            <a:extLst xmlns:a="http://schemas.openxmlformats.org/drawingml/2006/main">
              <a:ext uri="{FF2B5EF4-FFF2-40B4-BE49-F238E27FC236}">
                <a16:creationId xmlns:a16="http://schemas.microsoft.com/office/drawing/2014/main" id="{8DD6EC58-EEE2-49C6-840D-23D3B27BDADF}"/>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Operational use requires bounded claims</a:t>
            </a:r>
          </a:p>
        </p:txBody>
      </p:sp>
      <p:sp>
        <p:nvSpPr>
          <p:cNvPr id="3" name="body-4">
            <a:extLst xmlns:a="http://schemas.openxmlformats.org/drawingml/2006/main">
              <a:ext uri="{FF2B5EF4-FFF2-40B4-BE49-F238E27FC236}">
                <a16:creationId xmlns:a16="http://schemas.microsoft.com/office/drawing/2014/main" id="{94AA9DFE-F9F9-4A44-BE80-0D2ECFD89149}"/>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Briefing claims should distinguish demonstrated validation results from aspirational performance targets and program messaging goals.</a:t>
            </a:r>
          </a:p>
        </p:txBody>
      </p:sp>
      <p:sp>
        <p:nvSpPr>
          <p:cNvPr id="4" name="footer-4">
            <a:extLst xmlns:a="http://schemas.openxmlformats.org/drawingml/2006/main">
              <a:ext uri="{FF2B5EF4-FFF2-40B4-BE49-F238E27FC236}">
                <a16:creationId xmlns:a16="http://schemas.microsoft.com/office/drawing/2014/main" id="{5384C0B7-7CF9-4591-91C0-2F51C528596F}"/>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4</a:t>
            </a:r>
          </a:p>
        </p:txBody>
      </p:sp>
    </p:spTree>
    <p:extLst>
      <p:ext uri="{BB962C8B-B14F-4D97-AF65-F5344CB8AC3E}">
        <p14:creationId xmlns:p14="http://schemas.microsoft.com/office/powerpoint/2010/main" val="30076323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5">
            <a:extLst xmlns:a="http://schemas.openxmlformats.org/drawingml/2006/main">
              <a:ext uri="{FF2B5EF4-FFF2-40B4-BE49-F238E27FC236}">
                <a16:creationId xmlns:a16="http://schemas.microsoft.com/office/drawing/2014/main" id="{46A7038B-12B6-4D0A-A09F-B13FAED7F1C8}"/>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5">
            <a:extLst xmlns:a="http://schemas.openxmlformats.org/drawingml/2006/main">
              <a:ext uri="{FF2B5EF4-FFF2-40B4-BE49-F238E27FC236}">
                <a16:creationId xmlns:a16="http://schemas.microsoft.com/office/drawing/2014/main" id="{3231ACB7-2F98-48C3-BB1C-B0FB9F678899}"/>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Civilian protection is now a primary question</a:t>
            </a:r>
          </a:p>
        </p:txBody>
      </p:sp>
      <p:sp>
        <p:nvSpPr>
          <p:cNvPr id="3" name="body-5">
            <a:extLst xmlns:a="http://schemas.openxmlformats.org/drawingml/2006/main">
              <a:ext uri="{FF2B5EF4-FFF2-40B4-BE49-F238E27FC236}">
                <a16:creationId xmlns:a16="http://schemas.microsoft.com/office/drawing/2014/main" id="{405954CD-152E-40FB-BBDE-B0EE4C481915}"/>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Staff questions have shifted toward civilian proximity, confidence thresholds, audit logs, and human authorization before any employment decision.</a:t>
            </a:r>
          </a:p>
        </p:txBody>
      </p:sp>
      <p:sp>
        <p:nvSpPr>
          <p:cNvPr id="4" name="footer-5">
            <a:extLst xmlns:a="http://schemas.openxmlformats.org/drawingml/2006/main">
              <a:ext uri="{FF2B5EF4-FFF2-40B4-BE49-F238E27FC236}">
                <a16:creationId xmlns:a16="http://schemas.microsoft.com/office/drawing/2014/main" id="{0402B004-43C1-44D2-9994-023F321E9779}"/>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5</a:t>
            </a:r>
          </a:p>
        </p:txBody>
      </p:sp>
    </p:spTree>
    <p:extLst>
      <p:ext uri="{BB962C8B-B14F-4D97-AF65-F5344CB8AC3E}">
        <p14:creationId xmlns:p14="http://schemas.microsoft.com/office/powerpoint/2010/main" val="1601575179"/>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6">
            <a:extLst xmlns:a="http://schemas.openxmlformats.org/drawingml/2006/main">
              <a:ext uri="{FF2B5EF4-FFF2-40B4-BE49-F238E27FC236}">
                <a16:creationId xmlns:a16="http://schemas.microsoft.com/office/drawing/2014/main" id="{1940AE05-7F22-4EAE-8E55-A388344F7203}"/>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6">
            <a:extLst xmlns:a="http://schemas.openxmlformats.org/drawingml/2006/main">
              <a:ext uri="{FF2B5EF4-FFF2-40B4-BE49-F238E27FC236}">
                <a16:creationId xmlns:a16="http://schemas.microsoft.com/office/drawing/2014/main" id="{10A4D5C9-D147-46CD-B572-02560E5B8D1B}"/>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Validation status remains a live issue</a:t>
            </a:r>
          </a:p>
        </p:txBody>
      </p:sp>
      <p:sp>
        <p:nvSpPr>
          <p:cNvPr id="3" name="body-6">
            <a:extLst xmlns:a="http://schemas.openxmlformats.org/drawingml/2006/main">
              <a:ext uri="{FF2B5EF4-FFF2-40B4-BE49-F238E27FC236}">
                <a16:creationId xmlns:a16="http://schemas.microsoft.com/office/drawing/2014/main" id="{3DD294A4-1EA0-4C5F-B591-0BC05DCA9564}"/>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validation team is still reconciling weekend results, especially dense urban scenes, poor weather, partial occlusion, and civilian-adjacent cases.</a:t>
            </a:r>
          </a:p>
        </p:txBody>
      </p:sp>
      <p:sp>
        <p:nvSpPr>
          <p:cNvPr id="4" name="footer-6">
            <a:extLst xmlns:a="http://schemas.openxmlformats.org/drawingml/2006/main">
              <a:ext uri="{FF2B5EF4-FFF2-40B4-BE49-F238E27FC236}">
                <a16:creationId xmlns:a16="http://schemas.microsoft.com/office/drawing/2014/main" id="{4B4B0E5B-A937-473D-A17C-3C15F2B73330}"/>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6</a:t>
            </a:r>
          </a:p>
        </p:txBody>
      </p:sp>
    </p:spTree>
    <p:extLst>
      <p:ext uri="{BB962C8B-B14F-4D97-AF65-F5344CB8AC3E}">
        <p14:creationId xmlns:p14="http://schemas.microsoft.com/office/powerpoint/2010/main" val="1819706437"/>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7">
            <a:extLst xmlns:a="http://schemas.openxmlformats.org/drawingml/2006/main">
              <a:ext uri="{FF2B5EF4-FFF2-40B4-BE49-F238E27FC236}">
                <a16:creationId xmlns:a16="http://schemas.microsoft.com/office/drawing/2014/main" id="{CAD13724-5AE1-468E-84D3-8E92C365394A}"/>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7">
            <a:extLst xmlns:a="http://schemas.openxmlformats.org/drawingml/2006/main">
              <a:ext uri="{FF2B5EF4-FFF2-40B4-BE49-F238E27FC236}">
                <a16:creationId xmlns:a16="http://schemas.microsoft.com/office/drawing/2014/main" id="{861CE046-59D1-4199-85AE-533D1F08AC99}"/>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Recommended answer posture</a:t>
            </a:r>
          </a:p>
        </p:txBody>
      </p:sp>
      <p:sp>
        <p:nvSpPr>
          <p:cNvPr id="3" name="body-7">
            <a:extLst xmlns:a="http://schemas.openxmlformats.org/drawingml/2006/main">
              <a:ext uri="{FF2B5EF4-FFF2-40B4-BE49-F238E27FC236}">
                <a16:creationId xmlns:a16="http://schemas.microsoft.com/office/drawing/2014/main" id="{F1C2C967-CB0E-448F-8557-B6E1FFAB640D}"/>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Acknowledge improvements, avoid overstating final error rates, and commit to providing final validation data before production decisions.</a:t>
            </a:r>
          </a:p>
        </p:txBody>
      </p:sp>
      <p:sp>
        <p:nvSpPr>
          <p:cNvPr id="4" name="footer-7">
            <a:extLst xmlns:a="http://schemas.openxmlformats.org/drawingml/2006/main">
              <a:ext uri="{FF2B5EF4-FFF2-40B4-BE49-F238E27FC236}">
                <a16:creationId xmlns:a16="http://schemas.microsoft.com/office/drawing/2014/main" id="{098E4D39-43A8-48FB-AC03-5DD01C0105DE}"/>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7</a:t>
            </a:r>
          </a:p>
        </p:txBody>
      </p:sp>
    </p:spTree>
    <p:extLst>
      <p:ext uri="{BB962C8B-B14F-4D97-AF65-F5344CB8AC3E}">
        <p14:creationId xmlns:p14="http://schemas.microsoft.com/office/powerpoint/2010/main" val="90800384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8">
            <a:extLst xmlns:a="http://schemas.openxmlformats.org/drawingml/2006/main">
              <a:ext uri="{FF2B5EF4-FFF2-40B4-BE49-F238E27FC236}">
                <a16:creationId xmlns:a16="http://schemas.microsoft.com/office/drawing/2014/main" id="{5C9B62BE-93C0-4C75-8652-4C604D73FC91}"/>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8">
            <a:extLst xmlns:a="http://schemas.openxmlformats.org/drawingml/2006/main">
              <a:ext uri="{FF2B5EF4-FFF2-40B4-BE49-F238E27FC236}">
                <a16:creationId xmlns:a16="http://schemas.microsoft.com/office/drawing/2014/main" id="{B9B19828-89D3-453C-8213-77042FC9C962}"/>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Oversight controls are part of the capability</a:t>
            </a:r>
          </a:p>
        </p:txBody>
      </p:sp>
      <p:sp>
        <p:nvSpPr>
          <p:cNvPr id="3" name="body-8">
            <a:extLst xmlns:a="http://schemas.openxmlformats.org/drawingml/2006/main">
              <a:ext uri="{FF2B5EF4-FFF2-40B4-BE49-F238E27FC236}">
                <a16:creationId xmlns:a16="http://schemas.microsoft.com/office/drawing/2014/main" id="{3C50E799-D3BD-40DD-8F93-53211958D15A}"/>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program brief should show how logging, review gates, exception handling, and human command judgment work together.</a:t>
            </a:r>
          </a:p>
        </p:txBody>
      </p:sp>
      <p:sp>
        <p:nvSpPr>
          <p:cNvPr id="4" name="footer-8">
            <a:extLst xmlns:a="http://schemas.openxmlformats.org/drawingml/2006/main">
              <a:ext uri="{FF2B5EF4-FFF2-40B4-BE49-F238E27FC236}">
                <a16:creationId xmlns:a16="http://schemas.microsoft.com/office/drawing/2014/main" id="{D10E83C5-371B-47CC-968F-FA52E800E293}"/>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8</a:t>
            </a:r>
          </a:p>
        </p:txBody>
      </p:sp>
    </p:spTree>
    <p:extLst>
      <p:ext uri="{BB962C8B-B14F-4D97-AF65-F5344CB8AC3E}">
        <p14:creationId xmlns:p14="http://schemas.microsoft.com/office/powerpoint/2010/main" val="108106629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9">
            <a:extLst xmlns:a="http://schemas.openxmlformats.org/drawingml/2006/main">
              <a:ext uri="{FF2B5EF4-FFF2-40B4-BE49-F238E27FC236}">
                <a16:creationId xmlns:a16="http://schemas.microsoft.com/office/drawing/2014/main" id="{2375595A-62B5-4B30-926C-0F9E1296B64A}"/>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9">
            <a:extLst xmlns:a="http://schemas.openxmlformats.org/drawingml/2006/main">
              <a:ext uri="{FF2B5EF4-FFF2-40B4-BE49-F238E27FC236}">
                <a16:creationId xmlns:a16="http://schemas.microsoft.com/office/drawing/2014/main" id="{DFBB6EB5-A441-4D63-988F-F67C503DFF23}"/>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Open actions before the hearing</a:t>
            </a:r>
          </a:p>
        </p:txBody>
      </p:sp>
      <p:sp>
        <p:nvSpPr>
          <p:cNvPr id="3" name="body-9">
            <a:extLst xmlns:a="http://schemas.openxmlformats.org/drawingml/2006/main">
              <a:ext uri="{FF2B5EF4-FFF2-40B4-BE49-F238E27FC236}">
                <a16:creationId xmlns:a16="http://schemas.microsoft.com/office/drawing/2014/main" id="{6E20F062-1620-49E9-83A0-8A112C82A144}"/>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Confirm the current validation figure, refresh talking points, remove stale slides, and align the deck with Senator Lane's staff questions.</a:t>
            </a:r>
          </a:p>
        </p:txBody>
      </p:sp>
      <p:sp>
        <p:nvSpPr>
          <p:cNvPr id="4" name="footer-9">
            <a:extLst xmlns:a="http://schemas.openxmlformats.org/drawingml/2006/main">
              <a:ext uri="{FF2B5EF4-FFF2-40B4-BE49-F238E27FC236}">
                <a16:creationId xmlns:a16="http://schemas.microsoft.com/office/drawing/2014/main" id="{5C58056F-3056-4395-A6D6-E8ADEED587BD}"/>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9</a:t>
            </a:r>
          </a:p>
        </p:txBody>
      </p:sp>
    </p:spTree>
    <p:extLst>
      <p:ext uri="{BB962C8B-B14F-4D97-AF65-F5344CB8AC3E}">
        <p14:creationId xmlns:p14="http://schemas.microsoft.com/office/powerpoint/2010/main" val="122875123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0">
            <a:extLst xmlns:a="http://schemas.openxmlformats.org/drawingml/2006/main">
              <a:ext uri="{FF2B5EF4-FFF2-40B4-BE49-F238E27FC236}">
                <a16:creationId xmlns:a16="http://schemas.microsoft.com/office/drawing/2014/main" id="{3BEF6C3F-0719-4624-A420-2B70B51C7432}"/>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0">
            <a:extLst xmlns:a="http://schemas.openxmlformats.org/drawingml/2006/main">
              <a:ext uri="{FF2B5EF4-FFF2-40B4-BE49-F238E27FC236}">
                <a16:creationId xmlns:a16="http://schemas.microsoft.com/office/drawing/2014/main" id="{1215DF4E-BE5D-4FFF-A528-C1C05CF70E9D}"/>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Expected committee questions</a:t>
            </a:r>
          </a:p>
        </p:txBody>
      </p:sp>
      <p:sp>
        <p:nvSpPr>
          <p:cNvPr id="3" name="body-10">
            <a:extLst xmlns:a="http://schemas.openxmlformats.org/drawingml/2006/main">
              <a:ext uri="{FF2B5EF4-FFF2-40B4-BE49-F238E27FC236}">
                <a16:creationId xmlns:a16="http://schemas.microsoft.com/office/drawing/2014/main" id="{4EFF4467-38CA-465F-B401-7DD0DD4C9AE7}"/>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Anticipate questions on civilian harm, testing methodology, accountability, deployment constraints, and what happens when model confidence is low.</a:t>
            </a:r>
          </a:p>
        </p:txBody>
      </p:sp>
      <p:sp>
        <p:nvSpPr>
          <p:cNvPr id="4" name="footer-10">
            <a:extLst xmlns:a="http://schemas.openxmlformats.org/drawingml/2006/main">
              <a:ext uri="{FF2B5EF4-FFF2-40B4-BE49-F238E27FC236}">
                <a16:creationId xmlns:a16="http://schemas.microsoft.com/office/drawing/2014/main" id="{36F5E60A-0B42-4155-9245-D6F74A68DAE9}"/>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10</a:t>
            </a:r>
          </a:p>
        </p:txBody>
      </p:sp>
    </p:spTree>
    <p:extLst>
      <p:ext uri="{BB962C8B-B14F-4D97-AF65-F5344CB8AC3E}">
        <p14:creationId xmlns:p14="http://schemas.microsoft.com/office/powerpoint/2010/main" val="1077748114"/>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1">
            <a:extLst xmlns:a="http://schemas.openxmlformats.org/drawingml/2006/main">
              <a:ext uri="{FF2B5EF4-FFF2-40B4-BE49-F238E27FC236}">
                <a16:creationId xmlns:a16="http://schemas.microsoft.com/office/drawing/2014/main" id="{8B8BC3DF-6A79-410B-9FCD-0FCCC07076A9}"/>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1">
            <a:extLst xmlns:a="http://schemas.openxmlformats.org/drawingml/2006/main">
              <a:ext uri="{FF2B5EF4-FFF2-40B4-BE49-F238E27FC236}">
                <a16:creationId xmlns:a16="http://schemas.microsoft.com/office/drawing/2014/main" id="{3ED8F1DC-3270-4B35-8C6F-88DB380CF84B}"/>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Risk language should be direct</a:t>
            </a:r>
          </a:p>
        </p:txBody>
      </p:sp>
      <p:sp>
        <p:nvSpPr>
          <p:cNvPr id="3" name="body-11">
            <a:extLst xmlns:a="http://schemas.openxmlformats.org/drawingml/2006/main">
              <a:ext uri="{FF2B5EF4-FFF2-40B4-BE49-F238E27FC236}">
                <a16:creationId xmlns:a16="http://schemas.microsoft.com/office/drawing/2014/main" id="{F022B1AB-536D-4B85-8C83-55984BB05C58}"/>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safest message is accurate and bounded: the program is promising, the controls matter, and final validation is not a substitute for policy judgment.</a:t>
            </a:r>
          </a:p>
        </p:txBody>
      </p:sp>
      <p:sp>
        <p:nvSpPr>
          <p:cNvPr id="4" name="footer-11">
            <a:extLst xmlns:a="http://schemas.openxmlformats.org/drawingml/2006/main">
              <a:ext uri="{FF2B5EF4-FFF2-40B4-BE49-F238E27FC236}">
                <a16:creationId xmlns:a16="http://schemas.microsoft.com/office/drawing/2014/main" id="{34AFB735-25E9-436C-A32F-B3FBBABE6676}"/>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11</a:t>
            </a:r>
          </a:p>
        </p:txBody>
      </p:sp>
    </p:spTree>
    <p:extLst>
      <p:ext uri="{BB962C8B-B14F-4D97-AF65-F5344CB8AC3E}">
        <p14:creationId xmlns:p14="http://schemas.microsoft.com/office/powerpoint/2010/main" val="620604251"/>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2">
            <a:extLst xmlns:a="http://schemas.openxmlformats.org/drawingml/2006/main">
              <a:ext uri="{FF2B5EF4-FFF2-40B4-BE49-F238E27FC236}">
                <a16:creationId xmlns:a16="http://schemas.microsoft.com/office/drawing/2014/main" id="{9E4F06FD-BC09-4406-A294-A34AD558F58F}"/>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2">
            <a:extLst xmlns:a="http://schemas.openxmlformats.org/drawingml/2006/main">
              <a:ext uri="{FF2B5EF4-FFF2-40B4-BE49-F238E27FC236}">
                <a16:creationId xmlns:a16="http://schemas.microsoft.com/office/drawing/2014/main" id="{6B117ED3-2F25-434E-9293-EFDAA0360067}"/>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Decision request</a:t>
            </a:r>
          </a:p>
        </p:txBody>
      </p:sp>
      <p:sp>
        <p:nvSpPr>
          <p:cNvPr id="3" name="body-12">
            <a:extLst xmlns:a="http://schemas.openxmlformats.org/drawingml/2006/main">
              <a:ext uri="{FF2B5EF4-FFF2-40B4-BE49-F238E27FC236}">
                <a16:creationId xmlns:a16="http://schemas.microsoft.com/office/drawing/2014/main" id="{8F8C5E8C-C9DF-464B-88E1-946C9A502D61}"/>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Seek continued support for disciplined validation and oversight, not a premature operational endorsement based on incomplete figures.</a:t>
            </a:r>
          </a:p>
        </p:txBody>
      </p:sp>
      <p:sp>
        <p:nvSpPr>
          <p:cNvPr id="4" name="footer-12">
            <a:extLst xmlns:a="http://schemas.openxmlformats.org/drawingml/2006/main">
              <a:ext uri="{FF2B5EF4-FFF2-40B4-BE49-F238E27FC236}">
                <a16:creationId xmlns:a16="http://schemas.microsoft.com/office/drawing/2014/main" id="{7E62148C-DDFC-46A8-BDD6-9747519D129B}"/>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12</a:t>
            </a:r>
          </a:p>
        </p:txBody>
      </p:sp>
    </p:spTree>
    <p:extLst>
      <p:ext uri="{BB962C8B-B14F-4D97-AF65-F5344CB8AC3E}">
        <p14:creationId xmlns:p14="http://schemas.microsoft.com/office/powerpoint/2010/main" val="734178717"/>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3">
            <a:extLst xmlns:a="http://schemas.openxmlformats.org/drawingml/2006/main">
              <a:ext uri="{FF2B5EF4-FFF2-40B4-BE49-F238E27FC236}">
                <a16:creationId xmlns:a16="http://schemas.microsoft.com/office/drawing/2014/main" id="{EE729847-A3C9-451B-9930-8B096F4FEB33}"/>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3">
            <a:extLst xmlns:a="http://schemas.openxmlformats.org/drawingml/2006/main">
              <a:ext uri="{FF2B5EF4-FFF2-40B4-BE49-F238E27FC236}">
                <a16:creationId xmlns:a16="http://schemas.microsoft.com/office/drawing/2014/main" id="{EA1E264C-A3AE-4C1D-B502-BB462583D742}"/>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Speaker preparation note</a:t>
            </a:r>
          </a:p>
        </p:txBody>
      </p:sp>
      <p:sp>
        <p:nvSpPr>
          <p:cNvPr id="3" name="body-13">
            <a:extLst xmlns:a="http://schemas.openxmlformats.org/drawingml/2006/main">
              <a:ext uri="{FF2B5EF4-FFF2-40B4-BE49-F238E27FC236}">
                <a16:creationId xmlns:a16="http://schemas.microsoft.com/office/drawing/2014/main" id="{22BCDFAE-6EBD-4B3D-9735-027854D72085}"/>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COL Abreu should be prepared to state which numbers are final, which are preliminary, and who owns the final validation sign-off.</a:t>
            </a:r>
          </a:p>
        </p:txBody>
      </p:sp>
      <p:sp>
        <p:nvSpPr>
          <p:cNvPr id="4" name="footer-13">
            <a:extLst xmlns:a="http://schemas.openxmlformats.org/drawingml/2006/main">
              <a:ext uri="{FF2B5EF4-FFF2-40B4-BE49-F238E27FC236}">
                <a16:creationId xmlns:a16="http://schemas.microsoft.com/office/drawing/2014/main" id="{74266ADD-4BF3-46F0-9643-139116BE8BF6}"/>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13</a:t>
            </a:r>
          </a:p>
        </p:txBody>
      </p:sp>
    </p:spTree>
    <p:extLst>
      <p:ext uri="{BB962C8B-B14F-4D97-AF65-F5344CB8AC3E}">
        <p14:creationId xmlns:p14="http://schemas.microsoft.com/office/powerpoint/2010/main" val="1670314712"/>
      </p:ext>
    </p:extLst>
  </p:cSld>
</p:sld>
</file>

<file path=ppt/slides/slide14.xml><?xml version="1.0" encoding="utf-8"?>
<p:sld xmlns:p="http://schemas.openxmlformats.org/presentationml/2006/main">
  <p:cSld>
    <p:bg>
      <p:bgPr>
        <a:solidFill xmlns:a="http://schemas.openxmlformats.org/drawingml/2006/main">
          <a:srgbClr val="F1F5F9"/>
        </a:solidFill>
      </p:bgPr>
    </p:bg>
    <p:spTree>
      <p:nvGrpSpPr>
        <p:cNvPr id="1" name=""/>
        <p:cNvGrpSpPr/>
        <p:nvPr/>
      </p:nvGrpSpPr>
      <p:grpSpPr>
        <a:xfrm xmlns:a="http://schemas.openxmlformats.org/drawingml/2006/main"/>
      </p:grpSpPr>
      <p:sp>
        <p:nvSpPr>
          <p:cNvPr id="1" name="slide14-marking-top">
            <a:extLst xmlns:a="http://schemas.openxmlformats.org/drawingml/2006/main">
              <a:ext uri="{FF2B5EF4-FFF2-40B4-BE49-F238E27FC236}">
                <a16:creationId xmlns:a16="http://schemas.microsoft.com/office/drawing/2014/main" id="{2042AD40-0148-4AA4-95BF-0264F5CBFF99}"/>
              </a:ext>
            </a:extLst>
          </p:cNvPr>
          <p:cNvSpPr>
            <a:spLocks xmlns:a="http://schemas.openxmlformats.org/drawingml/2006/main" noGrp="1"/>
          </p:cNvSpPr>
          <p:nvPr/>
        </p:nvSpPr>
        <p:spPr>
          <a:xfrm xmlns:a="http://schemas.openxmlformats.org/drawingml/2006/main">
            <a:off x="685800" y="3238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C10007"/>
                </a:solidFill>
              </a:defRPr>
            </a:pPr>
            <a:r>
              <a:rPr sz="1800" b="1">
                <a:solidFill>
                  <a:srgbClr val="C10007"/>
                </a:solidFill>
              </a:rPr>
              <a:t>UNCLASSIFIED</a:t>
            </a:r>
          </a:p>
        </p:txBody>
      </p:sp>
      <p:sp>
        <p:nvSpPr>
          <p:cNvPr id="2" name="slide14-title">
            <a:extLst xmlns:a="http://schemas.openxmlformats.org/drawingml/2006/main">
              <a:ext uri="{FF2B5EF4-FFF2-40B4-BE49-F238E27FC236}">
                <a16:creationId xmlns:a16="http://schemas.microsoft.com/office/drawing/2014/main" id="{3BB81191-5DC1-4BED-B0DE-255033ED69D0}"/>
              </a:ext>
            </a:extLst>
          </p:cNvPr>
          <p:cNvSpPr>
            <a:spLocks xmlns:a="http://schemas.openxmlformats.org/drawingml/2006/main" noGrp="1"/>
          </p:cNvSpPr>
          <p:nvPr/>
        </p:nvSpPr>
        <p:spPr>
          <a:xfrm xmlns:a="http://schemas.openxmlformats.org/drawingml/2006/main">
            <a:off x="685800" y="11239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20618"/>
                </a:solidFill>
              </a:defRPr>
            </a:pPr>
            <a:r>
              <a:rPr sz="3150" b="1">
                <a:solidFill>
                  <a:srgbClr val="020618"/>
                </a:solidFill>
              </a:rPr>
              <a:t>Embedded appendix slide</a:t>
            </a:r>
          </a:p>
        </p:txBody>
      </p:sp>
      <p:sp>
        <p:nvSpPr>
          <p:cNvPr id="3" name="slide14-body">
            <a:extLst xmlns:a="http://schemas.openxmlformats.org/drawingml/2006/main">
              <a:ext uri="{FF2B5EF4-FFF2-40B4-BE49-F238E27FC236}">
                <a16:creationId xmlns:a16="http://schemas.microsoft.com/office/drawing/2014/main" id="{B17432EF-0948-4364-840D-D808885FF7F2}"/>
              </a:ext>
            </a:extLst>
          </p:cNvPr>
          <p:cNvSpPr>
            <a:spLocks xmlns:a="http://schemas.openxmlformats.org/drawingml/2006/main" noGrp="1"/>
          </p:cNvSpPr>
          <p:nvPr/>
        </p:nvSpPr>
        <p:spPr>
          <a:xfrm xmlns:a="http://schemas.openxmlformats.org/drawingml/2006/main">
            <a:off x="914400" y="2190750"/>
            <a:ext cx="9334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Fictional training marker only. This slide intentionally contains no real operational detail, target data, collection capability, or classified substance. Its purpose in the workshop is to test whether students notice an inappropriate marking embedded inside an otherwise unclassified deck.</a:t>
            </a:r>
          </a:p>
        </p:txBody>
      </p:sp>
      <p:sp>
        <p:nvSpPr>
          <p:cNvPr id="4" name="slide14-marking-bottom">
            <a:extLst xmlns:a="http://schemas.openxmlformats.org/drawingml/2006/main">
              <a:ext uri="{FF2B5EF4-FFF2-40B4-BE49-F238E27FC236}">
                <a16:creationId xmlns:a16="http://schemas.microsoft.com/office/drawing/2014/main" id="{D9A8A3C4-57B5-488D-8AA6-4936BD93EA89}"/>
              </a:ext>
            </a:extLst>
          </p:cNvPr>
          <p:cNvSpPr>
            <a:spLocks xmlns:a="http://schemas.openxmlformats.org/drawingml/2006/main" noGrp="1"/>
          </p:cNvSpPr>
          <p:nvPr/>
        </p:nvSpPr>
        <p:spPr>
          <a:xfrm xmlns:a="http://schemas.openxmlformats.org/drawingml/2006/main">
            <a:off x="685800" y="61912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C10007"/>
                </a:solidFill>
              </a:defRPr>
            </a:pPr>
            <a:r>
              <a:rPr sz="1800" b="1">
                <a:solidFill>
                  <a:srgbClr val="C10007"/>
                </a:solidFill>
              </a:rPr>
              <a:t>UNCLASSIFIED</a:t>
            </a:r>
          </a:p>
        </p:txBody>
      </p:sp>
    </p:spTree>
    <p:extLst>
      <p:ext uri="{BB962C8B-B14F-4D97-AF65-F5344CB8AC3E}">
        <p14:creationId xmlns:p14="http://schemas.microsoft.com/office/powerpoint/2010/main" val="896048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2026-07-14T18:29:28.4840000Z</dcterms:created>
  <dcterms:modified xsi:type="dcterms:W3CDTF">2026-07-14T18:29:28.4840000Z</dcterms:modified>
</coreProperties>
</file>